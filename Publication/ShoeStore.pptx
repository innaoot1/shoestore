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939" r:id="rId1"/>
  </p:sldMasterIdLst>
  <p:sldIdLst>
    <p:sldId id="284" r:id="rId2"/>
    <p:sldId id="257" r:id="rId3"/>
    <p:sldId id="282" r:id="rId4"/>
    <p:sldId id="272" r:id="rId5"/>
    <p:sldId id="275" r:id="rId6"/>
    <p:sldId id="273" r:id="rId7"/>
    <p:sldId id="274" r:id="rId8"/>
    <p:sldId id="276" r:id="rId9"/>
    <p:sldId id="277" r:id="rId10"/>
    <p:sldId id="28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7F1"/>
    <a:srgbClr val="FCD8FC"/>
    <a:srgbClr val="FDE9FD"/>
    <a:srgbClr val="F9ADF7"/>
    <a:srgbClr val="2D419C"/>
    <a:srgbClr val="123BAE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220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80" d="100"/>
          <a:sy n="80" d="100"/>
        </p:scale>
        <p:origin x="-662" y="-17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25097523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70A7B3-6521-4DCA-87E5-044747A908C1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41866229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22558960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34690-1557-4C89-A502-4959FE7FAD70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399975098"/>
      </p:ext>
    </p:extLst>
  </p:cSld>
  <p:clrMapOvr>
    <a:masterClrMapping/>
  </p:clrMapOvr>
  <p:extLst>
    <p:ext uri="{DCECCB84-F9BA-43D5-87BE-67443E8EF086}">
      <p15:sldGuideLst xmlns:p15="http://schemas.microsoft.com/office/powerpoint/2012/main" xmlns="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7D4976-E339-4826-83B7-FBD03F55ECF8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3691994714"/>
      </p:ext>
    </p:extLst>
  </p:cSld>
  <p:clrMapOvr>
    <a:masterClrMapping/>
  </p:clrMapOvr>
  <p:extLst>
    <p:ext uri="{DCECCB84-F9BA-43D5-87BE-67443E8EF086}">
      <p15:sldGuideLst xmlns:p15="http://schemas.microsoft.com/office/powerpoint/2012/main" xmlns="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037C31-9E7A-4F99-8774-A0E530DE1A42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4097427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78504F-A551-4DE0-9316-4DCD1D8CC752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5409447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015439884"/>
      </p:ext>
    </p:extLst>
  </p:cSld>
  <p:clrMapOvr>
    <a:masterClrMapping/>
  </p:clrMapOvr>
  <p:extLst>
    <p:ext uri="{DCECCB84-F9BA-43D5-87BE-67443E8EF086}">
      <p15:sldGuideLst xmlns:p15="http://schemas.microsoft.com/office/powerpoint/2012/main" xmlns="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60EA64-D806-43AC-9DF2-F8C432F32B4C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3491524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F9C37B-1D36-470B-8223-D6C91242EC14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3879779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6F52A-A82B-47A2-A83A-8C4C91F2D59F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5703332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60EA64-D806-43AC-9DF2-F8C432F32B4C}" type="datetimeFigureOut">
              <a:rPr lang="en-US" smtClean="0"/>
              <a:pPr/>
              <a:t>12/19/2025</a:t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A6979-0714-4377-B894-6BE4C2D6E20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11058518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40" r:id="rId1"/>
    <p:sldLayoutId id="2147483941" r:id="rId2"/>
    <p:sldLayoutId id="2147483942" r:id="rId3"/>
    <p:sldLayoutId id="2147483943" r:id="rId4"/>
    <p:sldLayoutId id="2147483944" r:id="rId5"/>
    <p:sldLayoutId id="2147483945" r:id="rId6"/>
    <p:sldLayoutId id="2147483946" r:id="rId7"/>
    <p:sldLayoutId id="2147483947" r:id="rId8"/>
    <p:sldLayoutId id="2147483948" r:id="rId9"/>
    <p:sldLayoutId id="2147483949" r:id="rId10"/>
    <p:sldLayoutId id="2147483950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 xmlns="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" y="2064183"/>
            <a:ext cx="12192000" cy="1540482"/>
          </a:xfrm>
          <a:solidFill>
            <a:srgbClr val="FDC7F1"/>
          </a:solidFill>
        </p:spPr>
        <p:txBody>
          <a:bodyPr>
            <a:normAutofit/>
          </a:bodyPr>
          <a:lstStyle/>
          <a:p>
            <a:r>
              <a:rPr lang="ru-RU" b="1" dirty="0" smtClean="0">
                <a:solidFill>
                  <a:schemeClr val="bg1"/>
                </a:solidFill>
              </a:rPr>
              <a:t>УП. 02</a:t>
            </a:r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147454" y="3756280"/>
            <a:ext cx="7897091" cy="1175153"/>
          </a:xfrm>
        </p:spPr>
        <p:txBody>
          <a:bodyPr/>
          <a:lstStyle/>
          <a:p>
            <a:r>
              <a:rPr lang="ru-RU" b="1" dirty="0" smtClean="0">
                <a:solidFill>
                  <a:srgbClr val="002060"/>
                </a:solidFill>
              </a:rPr>
              <a:t>Тема: </a:t>
            </a:r>
            <a:r>
              <a:rPr lang="ru-RU" b="1" dirty="0" smtClean="0"/>
              <a:t>Магазин обуви</a:t>
            </a:r>
            <a:endParaRPr lang="ru-RU" b="1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3048000" y="202935"/>
            <a:ext cx="6669206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Министерство </a:t>
            </a:r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образования и науки Нижегородской </a:t>
            </a: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области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Государственное бюджетное профессиональное </a:t>
            </a:r>
            <a:b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образовательное учреждение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 «Заволжский автомоторный техникум»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(ГБПОУ ЗАМТ)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1566425014"/>
              </p:ext>
            </p:extLst>
          </p:nvPr>
        </p:nvGraphicFramePr>
        <p:xfrm>
          <a:off x="7383166" y="4673474"/>
          <a:ext cx="9152234" cy="6400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760517">
                  <a:extLst>
                    <a:ext uri="{9D8B030D-6E8A-4147-A177-3AD203B41FA5}">
                      <a16:colId xmlns:a16="http://schemas.microsoft.com/office/drawing/2014/main" xmlns="" val="856406293"/>
                    </a:ext>
                  </a:extLst>
                </a:gridCol>
                <a:gridCol w="4391717">
                  <a:extLst>
                    <a:ext uri="{9D8B030D-6E8A-4147-A177-3AD203B41FA5}">
                      <a16:colId xmlns:a16="http://schemas.microsoft.com/office/drawing/2014/main" xmlns="" val="3577592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 smtClean="0"/>
                        <a:t>Выполнила: </a:t>
                      </a:r>
                      <a:r>
                        <a:rPr lang="ru-RU" baseline="0" dirty="0" smtClean="0"/>
                        <a:t>Трифонова Инна Андреевна</a:t>
                      </a:r>
                      <a:endParaRPr lang="ru-RU" dirty="0" smtClean="0"/>
                    </a:p>
                    <a:p>
                      <a:pPr algn="l"/>
                      <a:r>
                        <a:rPr lang="ru-RU" baseline="0" dirty="0" smtClean="0"/>
                        <a:t>                       </a:t>
                      </a:r>
                      <a:r>
                        <a:rPr lang="ru-RU" baseline="0" dirty="0" smtClean="0"/>
                        <a:t>Студентка </a:t>
                      </a:r>
                      <a:r>
                        <a:rPr lang="ru-RU" baseline="0" dirty="0" smtClean="0"/>
                        <a:t>группы ИС-22А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xmlns="" val="3476427313"/>
                  </a:ext>
                </a:extLst>
              </a:tr>
            </a:tbl>
          </a:graphicData>
        </a:graphic>
      </p:graphicFrame>
      <p:sp>
        <p:nvSpPr>
          <p:cNvPr id="6" name="Прямоугольник 5"/>
          <p:cNvSpPr/>
          <p:nvPr/>
        </p:nvSpPr>
        <p:spPr>
          <a:xfrm>
            <a:off x="5313218" y="6026360"/>
            <a:ext cx="1565564" cy="7232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just">
              <a:spcBef>
                <a:spcPts val="600"/>
              </a:spcBef>
              <a:spcAft>
                <a:spcPts val="0"/>
              </a:spcAft>
            </a:pPr>
            <a:r>
              <a:rPr lang="ru-RU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Заволжье</a:t>
            </a:r>
          </a:p>
          <a:p>
            <a:pPr marL="180340" marR="180340" algn="ctr">
              <a:spcBef>
                <a:spcPts val="600"/>
              </a:spcBef>
              <a:spcAft>
                <a:spcPts val="0"/>
              </a:spcAft>
            </a:pPr>
            <a:r>
              <a:rPr lang="ru-RU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2025</a:t>
            </a:r>
          </a:p>
        </p:txBody>
      </p:sp>
    </p:spTree>
    <p:extLst>
      <p:ext uri="{BB962C8B-B14F-4D97-AF65-F5344CB8AC3E}">
        <p14:creationId xmlns:p14="http://schemas.microsoft.com/office/powerpoint/2010/main" xmlns="" val="4290534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rgbClr val="FDC7F1"/>
          </a:solidFill>
        </p:spPr>
        <p:txBody>
          <a:bodyPr>
            <a:normAutofit/>
          </a:bodyPr>
          <a:lstStyle/>
          <a:p>
            <a:pPr algn="ctr"/>
            <a:r>
              <a:rPr lang="ru-RU" sz="4000" b="1" dirty="0" smtClean="0">
                <a:solidFill>
                  <a:schemeClr val="bg1"/>
                </a:solidFill>
              </a:rPr>
              <a:t>Обзор проекта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23851" y="1422400"/>
            <a:ext cx="11515724" cy="4013200"/>
          </a:xfrm>
        </p:spPr>
        <p:txBody>
          <a:bodyPr>
            <a:normAutofit/>
          </a:bodyPr>
          <a:lstStyle/>
          <a:p>
            <a:pPr marL="0" indent="540000">
              <a:buNone/>
            </a:pP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ShoeStore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— это мобильное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Android‑приложение‑маркетплейс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, ориентированное на продажу спортивной обуви.</a:t>
            </a:r>
          </a:p>
          <a:p>
            <a:pPr marL="0" indent="540000">
              <a:buNone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Оно использует REST API для обмена данными с сервером, современный декларативный подход к созданию интерфейса и архитектуру с разделением на независимые слои.</a:t>
            </a:r>
            <a:br>
              <a:rPr lang="ru-RU" sz="2400" dirty="0" smtClean="0">
                <a:latin typeface="Times New Roman" pitchFamily="18" charset="0"/>
                <a:cs typeface="Times New Roman" pitchFamily="18" charset="0"/>
              </a:rPr>
            </a:b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При разработке сделан упор на грамотную организацию кода, надёжное управление состоянием экранов и устойчивое взаимодействие с серверной частью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ru-RU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>
              <a:buNone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Рисунок 7" descr="Android_Logo_2014_-_2019.sv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575" y="4076700"/>
            <a:ext cx="1828800" cy="1828800"/>
          </a:xfrm>
          <a:prstGeom prst="rect">
            <a:avLst/>
          </a:prstGeom>
        </p:spPr>
      </p:pic>
      <p:pic>
        <p:nvPicPr>
          <p:cNvPr id="9" name="Рисунок 8" descr="image-41-1536x8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1" y="3832860"/>
            <a:ext cx="4328160" cy="24345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39501118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rgbClr val="FDC7F1"/>
          </a:solidFill>
        </p:spPr>
        <p:txBody>
          <a:bodyPr>
            <a:normAutofit/>
          </a:bodyPr>
          <a:lstStyle/>
          <a:p>
            <a:pPr algn="ctr"/>
            <a:r>
              <a:rPr lang="ru-RU" sz="4000" b="1" dirty="0" smtClean="0">
                <a:solidFill>
                  <a:schemeClr val="bg1"/>
                </a:solidFill>
              </a:rPr>
              <a:t>Функциональная структура приложения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23851" y="1422400"/>
            <a:ext cx="11515724" cy="4013200"/>
          </a:xfrm>
        </p:spPr>
        <p:txBody>
          <a:bodyPr>
            <a:normAutofit/>
          </a:bodyPr>
          <a:lstStyle/>
          <a:p>
            <a:pPr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endParaRPr lang="ru-RU" sz="26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33375" y="1600200"/>
            <a:ext cx="2571750" cy="3238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171825" y="1604963"/>
            <a:ext cx="2476500" cy="19716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829300" y="1681163"/>
            <a:ext cx="2495550" cy="4200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5"/>
          <p:cNvPicPr>
            <a:picLocks noChangeAspect="1" noChangeArrowheads="1"/>
          </p:cNvPicPr>
          <p:nvPr/>
        </p:nvPicPr>
        <p:blipFill>
          <a:blip r:embed="rId5"/>
          <a:srcRect/>
          <a:stretch>
            <a:fillRect/>
          </a:stretch>
        </p:blipFill>
        <p:spPr bwMode="auto">
          <a:xfrm>
            <a:off x="8582025" y="1981200"/>
            <a:ext cx="3352800" cy="2743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xmlns="" val="17583224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rgbClr val="FDC7F1"/>
          </a:solidFill>
        </p:spPr>
        <p:txBody>
          <a:bodyPr>
            <a:normAutofit/>
          </a:bodyPr>
          <a:lstStyle/>
          <a:p>
            <a:pPr algn="ctr"/>
            <a:r>
              <a:rPr lang="ru-RU" sz="4000" b="1" dirty="0" smtClean="0">
                <a:solidFill>
                  <a:schemeClr val="bg1"/>
                </a:solidFill>
              </a:rPr>
              <a:t>Функциональная структура приложения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23851" y="1422400"/>
            <a:ext cx="11515724" cy="4013200"/>
          </a:xfrm>
        </p:spPr>
        <p:txBody>
          <a:bodyPr>
            <a:normAutofit/>
          </a:bodyPr>
          <a:lstStyle/>
          <a:p>
            <a:pPr algn="just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endParaRPr lang="ru-RU" sz="26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28625" y="1538289"/>
            <a:ext cx="3212033" cy="35861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457699" y="1406646"/>
            <a:ext cx="2633663" cy="4975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8278687" y="1590675"/>
            <a:ext cx="2355976" cy="4619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xmlns="" val="17583224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rgbClr val="FDC7F1"/>
          </a:solidFill>
        </p:spPr>
        <p:txBody>
          <a:bodyPr>
            <a:normAutofit/>
          </a:bodyPr>
          <a:lstStyle/>
          <a:p>
            <a:pPr algn="ctr"/>
            <a:r>
              <a:rPr lang="ru-RU" sz="4000" b="1" dirty="0" smtClean="0">
                <a:solidFill>
                  <a:schemeClr val="bg1"/>
                </a:solidFill>
              </a:rPr>
              <a:t>Архитектурный подход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23851" y="1422399"/>
            <a:ext cx="11515724" cy="5273675"/>
          </a:xfrm>
        </p:spPr>
        <p:txBody>
          <a:bodyPr>
            <a:normAutofit lnSpcReduction="10000"/>
          </a:bodyPr>
          <a:lstStyle/>
          <a:p>
            <a:pPr marL="0" indent="540000" algn="just">
              <a:buNone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приложении реализован паттерн 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MVVM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, идеально подходящий для </a:t>
            </a:r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Jetpack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Compose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и соответствующий рекомендациям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Android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Jetpack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.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​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marL="0" indent="540000" algn="just">
              <a:buNone/>
            </a:pP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Преимущества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MVVM</a:t>
            </a:r>
          </a:p>
          <a:p>
            <a:pPr marL="361950" indent="714375"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Разделяет UI от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бизнес-логики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, обеспечивая независимую разработку и тестирование компонентов.</a:t>
            </a:r>
          </a:p>
          <a:p>
            <a:pPr marL="361950" indent="714375"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Предоставляет централизованное управление состоянием, что облегчает работу с данными и реактивными обновлениями.</a:t>
            </a:r>
          </a:p>
          <a:p>
            <a:pPr marL="361950" indent="714375"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Упрощает сопровождение кода и масштабирование за счет четкой, модульной структуры.​</a:t>
            </a:r>
          </a:p>
          <a:p>
            <a:pPr marL="0" indent="540000" algn="just">
              <a:buNone/>
            </a:pP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Структура экранов</a:t>
            </a:r>
          </a:p>
          <a:p>
            <a:pPr marL="0" indent="540000">
              <a:buNone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Каждый экран использует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dedicated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ViewModel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минимизируя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зависимости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между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компонентами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.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​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marL="0" indent="540000">
              <a:buNone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Такая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изоляция повышает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переиспользуемость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логики и предотвращает нежелательные взаимодействия.​</a:t>
            </a:r>
            <a:endParaRPr lang="ru-RU" sz="24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40603688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rgbClr val="FDC7F1"/>
          </a:solidFill>
        </p:spPr>
        <p:txBody>
          <a:bodyPr>
            <a:normAutofit/>
          </a:bodyPr>
          <a:lstStyle/>
          <a:p>
            <a:pPr algn="ctr"/>
            <a:r>
              <a:rPr lang="ru-RU" sz="4000" b="1" dirty="0" smtClean="0">
                <a:solidFill>
                  <a:schemeClr val="bg1"/>
                </a:solidFill>
              </a:rPr>
              <a:t>Реализация </a:t>
            </a:r>
            <a:r>
              <a:rPr lang="en-US" sz="4000" b="1" dirty="0" smtClean="0">
                <a:solidFill>
                  <a:schemeClr val="bg1"/>
                </a:solidFill>
              </a:rPr>
              <a:t>MVVM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23851" y="1422400"/>
            <a:ext cx="11515724" cy="4013200"/>
          </a:xfrm>
        </p:spPr>
        <p:txBody>
          <a:bodyPr>
            <a:normAutofit/>
          </a:bodyPr>
          <a:lstStyle/>
          <a:p>
            <a:pPr marL="0" indent="540000">
              <a:buNone/>
            </a:pP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В 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Compose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экран выступает как 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View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: он отображает интерфейс и наблюдает за состояниями, которые предоставляет </a:t>
            </a: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ViewModel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автоматически обновляясь при их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изменении.</a:t>
            </a:r>
          </a:p>
          <a:p>
            <a:pPr marL="0" indent="540000">
              <a:buNone/>
            </a:pPr>
            <a:r>
              <a:rPr lang="ru-RU" b="1" dirty="0" err="1" smtClean="0">
                <a:latin typeface="Times New Roman" pitchFamily="18" charset="0"/>
                <a:cs typeface="Times New Roman" pitchFamily="18" charset="0"/>
              </a:rPr>
              <a:t>ViewModel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реагирует на действия пользователя, формирует состояние интерфейса и взаимодействует с сетевым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слоем.</a:t>
            </a:r>
          </a:p>
          <a:p>
            <a:pPr marL="0" indent="540000">
              <a:buNone/>
            </a:pP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А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сетевой 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слой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 инкапсулирует логику работы с </a:t>
            </a:r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API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возвращая в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ViewModel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уже обработанные данные, не раскрывая деталей сетевых запросов.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xmlns="" val="14434925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rgbClr val="FDC7F1"/>
          </a:solidFill>
        </p:spPr>
        <p:txBody>
          <a:bodyPr>
            <a:normAutofit/>
          </a:bodyPr>
          <a:lstStyle/>
          <a:p>
            <a:pPr algn="ctr"/>
            <a:r>
              <a:rPr lang="ru-RU" sz="4000" b="1" dirty="0" smtClean="0">
                <a:solidFill>
                  <a:schemeClr val="bg1"/>
                </a:solidFill>
              </a:rPr>
              <a:t>Диаграмма вариантов использования</a:t>
            </a:r>
            <a:endParaRPr lang="ru-RU" sz="4000" b="1" dirty="0">
              <a:solidFill>
                <a:schemeClr val="bg1"/>
              </a:solidFill>
            </a:endParaRPr>
          </a:p>
        </p:txBody>
      </p:sp>
      <p:pic>
        <p:nvPicPr>
          <p:cNvPr id="8" name="Содержимое 7" descr="Диаграмма использования.png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00424" y="2269649"/>
            <a:ext cx="6009494" cy="3054826"/>
          </a:xfrm>
        </p:spPr>
      </p:pic>
    </p:spTree>
    <p:extLst>
      <p:ext uri="{BB962C8B-B14F-4D97-AF65-F5344CB8AC3E}">
        <p14:creationId xmlns:p14="http://schemas.microsoft.com/office/powerpoint/2010/main" xmlns="" val="21057565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rgbClr val="FDC7F1"/>
          </a:solidFill>
        </p:spPr>
        <p:txBody>
          <a:bodyPr>
            <a:normAutofit/>
          </a:bodyPr>
          <a:lstStyle/>
          <a:p>
            <a:pPr algn="ctr"/>
            <a:r>
              <a:rPr lang="ru-RU" sz="4000" b="1" dirty="0" smtClean="0">
                <a:solidFill>
                  <a:schemeClr val="bg1"/>
                </a:solidFill>
              </a:rPr>
              <a:t>Реализация</a:t>
            </a:r>
            <a:r>
              <a:rPr lang="ru-RU" sz="4000" dirty="0" smtClean="0"/>
              <a:t> </a:t>
            </a:r>
            <a:r>
              <a:rPr lang="ru-RU" sz="4000" b="1" dirty="0" smtClean="0">
                <a:solidFill>
                  <a:schemeClr val="bg1"/>
                </a:solidFill>
              </a:rPr>
              <a:t>пользовательского интерфейса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23851" y="1422400"/>
            <a:ext cx="11515724" cy="4013200"/>
          </a:xfrm>
        </p:spPr>
        <p:txBody>
          <a:bodyPr>
            <a:normAutofit lnSpcReduction="10000"/>
          </a:bodyPr>
          <a:lstStyle/>
          <a:p>
            <a:pPr marL="0" indent="540000">
              <a:buNone/>
            </a:pP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 архитектуре 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MVVM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 приложение разделено на три уровня:</a:t>
            </a:r>
          </a:p>
          <a:p>
            <a:pPr marL="0" indent="540000">
              <a:buNone/>
            </a:pPr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View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(Compose-экраны) — отвечает только за отображение интерфейса и реакцию на изменения состояния. Здесь нет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бизнес-логики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. Все данные приходят из 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ViewModel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 через 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collectAsState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().</a:t>
            </a:r>
          </a:p>
          <a:p>
            <a:pPr marL="0" indent="540000">
              <a:buNone/>
            </a:pPr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ViewModel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 — управляет состоянием экрана. Обрабатывает действия пользователя (клики, ввод), обновляет 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StateFlow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 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(например, 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loading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, 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error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, 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data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) и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обращается к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репозиторию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или API через 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RetrofitInstance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marL="0" indent="540000">
              <a:buNone/>
            </a:pPr>
            <a:r>
              <a:rPr lang="ru-RU" sz="2400" b="1" dirty="0" err="1" smtClean="0">
                <a:latin typeface="Times New Roman" pitchFamily="18" charset="0"/>
                <a:cs typeface="Times New Roman" pitchFamily="18" charset="0"/>
              </a:rPr>
              <a:t>Model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(API/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Repository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) — скрывает детали работы с сетью. Возвращает готовые данные, не заставляя 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ViewModel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 напрямую работать с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Retrofit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marL="0" indent="540000">
              <a:buNone/>
            </a:pP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Поток данных 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выглядит так:</a:t>
            </a:r>
            <a:br>
              <a:rPr lang="ru-RU" sz="2400" dirty="0" smtClean="0">
                <a:latin typeface="Times New Roman" pitchFamily="18" charset="0"/>
                <a:cs typeface="Times New Roman" pitchFamily="18" charset="0"/>
              </a:rPr>
            </a:b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Пользователь →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View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→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ViewModel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→ API → </a:t>
            </a:r>
            <a:r>
              <a:rPr lang="ru-RU" sz="2400" dirty="0" err="1" smtClean="0">
                <a:latin typeface="Times New Roman" pitchFamily="18" charset="0"/>
                <a:cs typeface="Times New Roman" pitchFamily="18" charset="0"/>
              </a:rPr>
              <a:t>ViewModel</a:t>
            </a:r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 → Обновление UI</a:t>
            </a:r>
          </a:p>
          <a:p>
            <a:pPr algn="just">
              <a:lnSpc>
                <a:spcPct val="80000"/>
              </a:lnSpc>
              <a:buNone/>
            </a:pPr>
            <a:endParaRPr lang="ru-RU" sz="2400" dirty="0"/>
          </a:p>
        </p:txBody>
      </p:sp>
      <p:sp>
        <p:nvSpPr>
          <p:cNvPr id="10242" name="AutoShape 2" descr="How to Build a Stunning Animated Progress Button | ProAndroidDev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0244" name="AutoShape 4" descr="How to Build a Stunning Animated Progress Button | ProAndroidDev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0246" name="AutoShape 6" descr="How to Build a Stunning Animated Progress Button | ProAndroidDev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0248" name="AutoShape 8" descr="README ru - Coil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0250" name="AutoShape 10" descr="README ru - Coil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10252" name="AutoShape 12" descr="README ru - Coil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26528992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 descr="68747470733a2f2f6d69726f2e6d656469756d2e636f6d2f76322f726573697a653a6669743a313430302f312a706e537a6d464a52434a7a745337746b534a585975512e6a706567.jf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2425" y="5243512"/>
            <a:ext cx="3629025" cy="876069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0" y="450850"/>
            <a:ext cx="12192000" cy="758825"/>
          </a:xfrm>
          <a:solidFill>
            <a:srgbClr val="FDC7F1"/>
          </a:solidFill>
        </p:spPr>
        <p:txBody>
          <a:bodyPr>
            <a:normAutofit/>
          </a:bodyPr>
          <a:lstStyle/>
          <a:p>
            <a:pPr algn="ctr"/>
            <a:r>
              <a:rPr lang="ru-RU" sz="4000" b="1" dirty="0" smtClean="0">
                <a:solidFill>
                  <a:schemeClr val="bg1"/>
                </a:solidFill>
              </a:rPr>
              <a:t>Сетевое взаимодействие</a:t>
            </a:r>
            <a:endParaRPr lang="ru-RU" sz="4000" b="1" dirty="0">
              <a:solidFill>
                <a:schemeClr val="bg1"/>
              </a:solidFill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323851" y="1422400"/>
            <a:ext cx="11515724" cy="4013200"/>
          </a:xfrm>
        </p:spPr>
        <p:txBody>
          <a:bodyPr>
            <a:normAutofit fontScale="92500" lnSpcReduction="20000"/>
          </a:bodyPr>
          <a:lstStyle/>
          <a:p>
            <a:pPr marL="0" indent="540000">
              <a:buNone/>
            </a:pPr>
            <a:r>
              <a:rPr lang="ru-RU" sz="2600" dirty="0" smtClean="0">
                <a:latin typeface="Times New Roman" pitchFamily="18" charset="0"/>
                <a:cs typeface="Times New Roman" pitchFamily="18" charset="0"/>
              </a:rPr>
              <a:t>Приложение </a:t>
            </a:r>
            <a:r>
              <a:rPr lang="ru-RU" sz="2600" dirty="0" smtClean="0">
                <a:latin typeface="Times New Roman" pitchFamily="18" charset="0"/>
                <a:cs typeface="Times New Roman" pitchFamily="18" charset="0"/>
              </a:rPr>
              <a:t>использует сетевой стек </a:t>
            </a:r>
            <a:r>
              <a:rPr lang="ru-RU" sz="2600" b="1" dirty="0" err="1" smtClean="0">
                <a:latin typeface="Times New Roman" pitchFamily="18" charset="0"/>
                <a:cs typeface="Times New Roman" pitchFamily="18" charset="0"/>
              </a:rPr>
              <a:t>Retrofit</a:t>
            </a:r>
            <a:r>
              <a:rPr lang="ru-RU" sz="2600" b="1" dirty="0" smtClean="0">
                <a:latin typeface="Times New Roman" pitchFamily="18" charset="0"/>
                <a:cs typeface="Times New Roman" pitchFamily="18" charset="0"/>
              </a:rPr>
              <a:t> 2</a:t>
            </a:r>
            <a:r>
              <a:rPr lang="ru-RU" sz="2600" dirty="0" smtClean="0">
                <a:latin typeface="Times New Roman" pitchFamily="18" charset="0"/>
                <a:cs typeface="Times New Roman" pitchFamily="18" charset="0"/>
              </a:rPr>
              <a:t> + </a:t>
            </a:r>
            <a:r>
              <a:rPr lang="ru-RU" sz="2600" b="1" dirty="0" err="1" smtClean="0">
                <a:latin typeface="Times New Roman" pitchFamily="18" charset="0"/>
                <a:cs typeface="Times New Roman" pitchFamily="18" charset="0"/>
              </a:rPr>
              <a:t>OkHttp</a:t>
            </a:r>
            <a:r>
              <a:rPr lang="ru-RU" sz="2600" dirty="0" smtClean="0">
                <a:latin typeface="Times New Roman" pitchFamily="18" charset="0"/>
                <a:cs typeface="Times New Roman" pitchFamily="18" charset="0"/>
              </a:rPr>
              <a:t> + </a:t>
            </a:r>
            <a:r>
              <a:rPr lang="ru-RU" sz="2600" b="1" dirty="0" err="1" smtClean="0">
                <a:latin typeface="Times New Roman" pitchFamily="18" charset="0"/>
                <a:cs typeface="Times New Roman" pitchFamily="18" charset="0"/>
              </a:rPr>
              <a:t>Supabase</a:t>
            </a:r>
            <a:r>
              <a:rPr lang="ru-RU" sz="2600" dirty="0" smtClean="0">
                <a:latin typeface="Times New Roman" pitchFamily="18" charset="0"/>
                <a:cs typeface="Times New Roman" pitchFamily="18" charset="0"/>
              </a:rPr>
              <a:t> + </a:t>
            </a:r>
            <a:r>
              <a:rPr lang="ru-RU" sz="2600" b="1" dirty="0" err="1" smtClean="0">
                <a:latin typeface="Times New Roman" pitchFamily="18" charset="0"/>
                <a:cs typeface="Times New Roman" pitchFamily="18" charset="0"/>
              </a:rPr>
              <a:t>Gson</a:t>
            </a:r>
            <a:r>
              <a:rPr lang="ru-RU" sz="2600" dirty="0" smtClean="0">
                <a:latin typeface="Times New Roman" pitchFamily="18" charset="0"/>
                <a:cs typeface="Times New Roman" pitchFamily="18" charset="0"/>
              </a:rPr>
              <a:t> для эффективной работы с API.​</a:t>
            </a:r>
          </a:p>
          <a:p>
            <a:pPr marL="0" indent="540000">
              <a:buNone/>
            </a:pPr>
            <a:r>
              <a:rPr lang="ru-RU" sz="2600" b="1" dirty="0" smtClean="0">
                <a:latin typeface="Times New Roman" pitchFamily="18" charset="0"/>
                <a:cs typeface="Times New Roman" pitchFamily="18" charset="0"/>
              </a:rPr>
              <a:t>Роли компонентов</a:t>
            </a:r>
          </a:p>
          <a:p>
            <a:pPr marL="0" indent="540000">
              <a:buNone/>
            </a:pPr>
            <a:r>
              <a:rPr lang="ru-RU" sz="2600" b="1" dirty="0" err="1" smtClean="0">
                <a:latin typeface="Times New Roman" pitchFamily="18" charset="0"/>
                <a:cs typeface="Times New Roman" pitchFamily="18" charset="0"/>
              </a:rPr>
              <a:t>Retrofit</a:t>
            </a:r>
            <a:r>
              <a:rPr lang="ru-RU" sz="2600" dirty="0" smtClean="0">
                <a:latin typeface="Times New Roman" pitchFamily="18" charset="0"/>
                <a:cs typeface="Times New Roman" pitchFamily="18" charset="0"/>
              </a:rPr>
              <a:t> определяет REST-интерфейсы и автоматически преобразует серверные ответы в модели </a:t>
            </a:r>
            <a:r>
              <a:rPr lang="ru-RU" sz="2600" dirty="0" err="1" smtClean="0">
                <a:latin typeface="Times New Roman" pitchFamily="18" charset="0"/>
                <a:cs typeface="Times New Roman" pitchFamily="18" charset="0"/>
              </a:rPr>
              <a:t>Kotlin</a:t>
            </a:r>
            <a:r>
              <a:rPr lang="ru-RU" sz="26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 marL="0" indent="540000">
              <a:buNone/>
            </a:pPr>
            <a:r>
              <a:rPr lang="ru-RU" sz="2600" b="1" dirty="0" err="1" smtClean="0">
                <a:latin typeface="Times New Roman" pitchFamily="18" charset="0"/>
                <a:cs typeface="Times New Roman" pitchFamily="18" charset="0"/>
              </a:rPr>
              <a:t>OkHttp</a:t>
            </a:r>
            <a:r>
              <a:rPr lang="ru-RU" sz="2600" dirty="0" smtClean="0">
                <a:latin typeface="Times New Roman" pitchFamily="18" charset="0"/>
                <a:cs typeface="Times New Roman" pitchFamily="18" charset="0"/>
              </a:rPr>
              <a:t> отвечает за выполнение HTTP-запросов, управление соединениями и кэшированием.</a:t>
            </a:r>
          </a:p>
          <a:p>
            <a:pPr marL="0" indent="540000">
              <a:buNone/>
            </a:pPr>
            <a:r>
              <a:rPr lang="ru-RU" sz="2600" b="1" dirty="0" err="1" smtClean="0">
                <a:latin typeface="Times New Roman" pitchFamily="18" charset="0"/>
                <a:cs typeface="Times New Roman" pitchFamily="18" charset="0"/>
              </a:rPr>
              <a:t>Supabase</a:t>
            </a:r>
            <a:r>
              <a:rPr lang="ru-RU" sz="2600" dirty="0" smtClean="0">
                <a:latin typeface="Times New Roman" pitchFamily="18" charset="0"/>
                <a:cs typeface="Times New Roman" pitchFamily="18" charset="0"/>
              </a:rPr>
              <a:t> предоставляет REST API на </a:t>
            </a:r>
            <a:r>
              <a:rPr lang="ru-RU" sz="2600" dirty="0" err="1" smtClean="0">
                <a:latin typeface="Times New Roman" pitchFamily="18" charset="0"/>
                <a:cs typeface="Times New Roman" pitchFamily="18" charset="0"/>
              </a:rPr>
              <a:t>бэкенде</a:t>
            </a:r>
            <a:r>
              <a:rPr lang="ru-RU" sz="2600" dirty="0" smtClean="0">
                <a:latin typeface="Times New Roman" pitchFamily="18" charset="0"/>
                <a:cs typeface="Times New Roman" pitchFamily="18" charset="0"/>
              </a:rPr>
              <a:t> для доступа к данным товаров, категорий и аутентификации.​</a:t>
            </a:r>
          </a:p>
          <a:p>
            <a:pPr marL="0" indent="540000">
              <a:buNone/>
            </a:pPr>
            <a:r>
              <a:rPr lang="ru-RU" sz="2600" b="1" dirty="0" err="1" smtClean="0">
                <a:latin typeface="Times New Roman" pitchFamily="18" charset="0"/>
                <a:cs typeface="Times New Roman" pitchFamily="18" charset="0"/>
              </a:rPr>
              <a:t>Сериализация</a:t>
            </a:r>
            <a:r>
              <a:rPr lang="ru-RU" sz="2600" b="1" dirty="0" smtClean="0">
                <a:latin typeface="Times New Roman" pitchFamily="18" charset="0"/>
                <a:cs typeface="Times New Roman" pitchFamily="18" charset="0"/>
              </a:rPr>
              <a:t> данных</a:t>
            </a:r>
          </a:p>
          <a:p>
            <a:pPr marL="0" indent="540000">
              <a:buNone/>
            </a:pPr>
            <a:r>
              <a:rPr lang="ru-RU" sz="2600" b="1" dirty="0" err="1" smtClean="0">
                <a:latin typeface="Times New Roman" pitchFamily="18" charset="0"/>
                <a:cs typeface="Times New Roman" pitchFamily="18" charset="0"/>
              </a:rPr>
              <a:t>Gson</a:t>
            </a:r>
            <a:r>
              <a:rPr lang="ru-RU" sz="2600" dirty="0" smtClean="0">
                <a:latin typeface="Times New Roman" pitchFamily="18" charset="0"/>
                <a:cs typeface="Times New Roman" pitchFamily="18" charset="0"/>
              </a:rPr>
              <a:t> обеспечивает конвертацию между JSON-ответами сервера и объектами </a:t>
            </a:r>
            <a:r>
              <a:rPr lang="ru-RU" sz="2600" dirty="0" err="1" smtClean="0">
                <a:latin typeface="Times New Roman" pitchFamily="18" charset="0"/>
                <a:cs typeface="Times New Roman" pitchFamily="18" charset="0"/>
              </a:rPr>
              <a:t>Kotlin</a:t>
            </a:r>
            <a:r>
              <a:rPr lang="ru-RU" sz="2600" dirty="0" smtClean="0">
                <a:latin typeface="Times New Roman" pitchFamily="18" charset="0"/>
                <a:cs typeface="Times New Roman" pitchFamily="18" charset="0"/>
              </a:rPr>
              <a:t>, упрощая обработку данных.</a:t>
            </a:r>
          </a:p>
          <a:p>
            <a:pPr algn="just">
              <a:lnSpc>
                <a:spcPct val="80000"/>
              </a:lnSpc>
              <a:buNone/>
            </a:pP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xmlns="" val="31663503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" y="2064183"/>
            <a:ext cx="12192000" cy="1540482"/>
          </a:xfrm>
          <a:solidFill>
            <a:srgbClr val="FDC7F1"/>
          </a:solidFill>
        </p:spPr>
        <p:txBody>
          <a:bodyPr>
            <a:normAutofit/>
          </a:bodyPr>
          <a:lstStyle/>
          <a:p>
            <a:r>
              <a:rPr lang="ru-RU" b="1" dirty="0" smtClean="0">
                <a:solidFill>
                  <a:schemeClr val="bg1"/>
                </a:solidFill>
              </a:rPr>
              <a:t>УП. 02</a:t>
            </a:r>
            <a:endParaRPr lang="ru-RU" b="1" dirty="0">
              <a:solidFill>
                <a:schemeClr val="bg1"/>
              </a:solidFill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2147454" y="3756280"/>
            <a:ext cx="7897091" cy="1175153"/>
          </a:xfrm>
        </p:spPr>
        <p:txBody>
          <a:bodyPr/>
          <a:lstStyle/>
          <a:p>
            <a:r>
              <a:rPr lang="ru-RU" b="1" dirty="0" smtClean="0">
                <a:solidFill>
                  <a:srgbClr val="002060"/>
                </a:solidFill>
              </a:rPr>
              <a:t>Тема: </a:t>
            </a:r>
            <a:r>
              <a:rPr lang="ru-RU" b="1" dirty="0" smtClean="0"/>
              <a:t>Магазин обуви</a:t>
            </a:r>
            <a:endParaRPr lang="ru-RU" b="1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3048000" y="202935"/>
            <a:ext cx="6669206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Министерство </a:t>
            </a:r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образования и науки Нижегородской </a:t>
            </a: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области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Государственное бюджетное профессиональное </a:t>
            </a:r>
            <a:b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</a:b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образовательное учреждение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 «Заволжский автомоторный техникум»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algn="ctr">
              <a:spcAft>
                <a:spcPts val="0"/>
              </a:spcAft>
            </a:pPr>
            <a:r>
              <a:rPr lang="ru-RU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(ГБПОУ ЗАМТ)</a:t>
            </a:r>
            <a:endParaRPr lang="ru-RU" sz="16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aphicFrame>
        <p:nvGraphicFramePr>
          <p:cNvPr id="5" name="Таблица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xmlns="" val="1566425014"/>
              </p:ext>
            </p:extLst>
          </p:nvPr>
        </p:nvGraphicFramePr>
        <p:xfrm>
          <a:off x="7383166" y="4673474"/>
          <a:ext cx="9152234" cy="6400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760517">
                  <a:extLst>
                    <a:ext uri="{9D8B030D-6E8A-4147-A177-3AD203B41FA5}">
                      <a16:colId xmlns:a16="http://schemas.microsoft.com/office/drawing/2014/main" xmlns="" val="856406293"/>
                    </a:ext>
                  </a:extLst>
                </a:gridCol>
                <a:gridCol w="4391717">
                  <a:extLst>
                    <a:ext uri="{9D8B030D-6E8A-4147-A177-3AD203B41FA5}">
                      <a16:colId xmlns:a16="http://schemas.microsoft.com/office/drawing/2014/main" xmlns="" val="35775920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 smtClean="0"/>
                        <a:t>Выполнила: </a:t>
                      </a:r>
                      <a:r>
                        <a:rPr lang="ru-RU" baseline="0" dirty="0" smtClean="0"/>
                        <a:t>Трифонова Инна Андреевна</a:t>
                      </a:r>
                      <a:endParaRPr lang="ru-RU" dirty="0" smtClean="0"/>
                    </a:p>
                    <a:p>
                      <a:pPr algn="l"/>
                      <a:r>
                        <a:rPr lang="ru-RU" baseline="0" dirty="0" smtClean="0"/>
                        <a:t>                       </a:t>
                      </a:r>
                      <a:r>
                        <a:rPr lang="ru-RU" baseline="0" dirty="0" smtClean="0"/>
                        <a:t>Студентка </a:t>
                      </a:r>
                      <a:r>
                        <a:rPr lang="ru-RU" baseline="0" dirty="0" smtClean="0"/>
                        <a:t>группы ИС-22А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ru-RU" dirty="0"/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xmlns="" val="3476427313"/>
                  </a:ext>
                </a:extLst>
              </a:tr>
            </a:tbl>
          </a:graphicData>
        </a:graphic>
      </p:graphicFrame>
      <p:sp>
        <p:nvSpPr>
          <p:cNvPr id="6" name="Прямоугольник 5"/>
          <p:cNvSpPr/>
          <p:nvPr/>
        </p:nvSpPr>
        <p:spPr>
          <a:xfrm>
            <a:off x="5313218" y="6026360"/>
            <a:ext cx="1565564" cy="7232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80340" marR="180340" algn="just">
              <a:spcBef>
                <a:spcPts val="600"/>
              </a:spcBef>
              <a:spcAft>
                <a:spcPts val="0"/>
              </a:spcAft>
            </a:pPr>
            <a:r>
              <a:rPr lang="ru-RU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Заволжье</a:t>
            </a:r>
          </a:p>
          <a:p>
            <a:pPr marL="180340" marR="180340" algn="ctr">
              <a:spcBef>
                <a:spcPts val="600"/>
              </a:spcBef>
              <a:spcAft>
                <a:spcPts val="0"/>
              </a:spcAft>
            </a:pPr>
            <a:r>
              <a:rPr lang="ru-RU" dirty="0" smtClean="0">
                <a:latin typeface="Times New Roman" panose="02020603050405020304" pitchFamily="18" charset="0"/>
                <a:ea typeface="Times New Roman" panose="02020603050405020304" pitchFamily="18" charset="0"/>
              </a:rPr>
              <a:t>2025</a:t>
            </a:r>
          </a:p>
        </p:txBody>
      </p:sp>
    </p:spTree>
    <p:extLst>
      <p:ext uri="{BB962C8B-B14F-4D97-AF65-F5344CB8AC3E}">
        <p14:creationId xmlns:p14="http://schemas.microsoft.com/office/powerpoint/2010/main" xmlns="" val="42905341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680</TotalTime>
  <Words>274</Words>
  <Application>Microsoft Office PowerPoint</Application>
  <PresentationFormat>Произвольный</PresentationFormat>
  <Paragraphs>55</Paragraphs>
  <Slides>10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1" baseType="lpstr">
      <vt:lpstr>Тема Office</vt:lpstr>
      <vt:lpstr>УП. 02</vt:lpstr>
      <vt:lpstr>Обзор проекта</vt:lpstr>
      <vt:lpstr>Функциональная структура приложения</vt:lpstr>
      <vt:lpstr>Функциональная структура приложения</vt:lpstr>
      <vt:lpstr>Архитектурный подход</vt:lpstr>
      <vt:lpstr>Реализация MVVM</vt:lpstr>
      <vt:lpstr>Диаграмма вариантов использования</vt:lpstr>
      <vt:lpstr>Реализация пользовательского интерфейса</vt:lpstr>
      <vt:lpstr>Сетевое взаимодействие</vt:lpstr>
      <vt:lpstr>УП. 02</vt:lpstr>
    </vt:vector>
  </TitlesOfParts>
  <Company>SPecialiST RePack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Пользователь Windows</dc:creator>
  <cp:lastModifiedBy>фшьшт</cp:lastModifiedBy>
  <cp:revision>59</cp:revision>
  <dcterms:created xsi:type="dcterms:W3CDTF">2022-06-15T10:15:27Z</dcterms:created>
  <dcterms:modified xsi:type="dcterms:W3CDTF">2025-12-19T21:15:46Z</dcterms:modified>
</cp:coreProperties>
</file>