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9" r:id="rId1"/>
  </p:sldMasterIdLst>
  <p:sldIdLst>
    <p:sldId id="284" r:id="rId2"/>
    <p:sldId id="257" r:id="rId3"/>
    <p:sldId id="282" r:id="rId4"/>
    <p:sldId id="272" r:id="rId5"/>
    <p:sldId id="275" r:id="rId6"/>
    <p:sldId id="273" r:id="rId7"/>
    <p:sldId id="274" r:id="rId8"/>
    <p:sldId id="276" r:id="rId9"/>
    <p:sldId id="277" r:id="rId10"/>
    <p:sldId id="28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7F1"/>
    <a:srgbClr val="FCD8FC"/>
    <a:srgbClr val="FDE9FD"/>
    <a:srgbClr val="F9ADF7"/>
    <a:srgbClr val="2D419C"/>
    <a:srgbClr val="123BA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80" d="100"/>
          <a:sy n="80" d="100"/>
        </p:scale>
        <p:origin x="-1698" y="-8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09752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86622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5589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9975098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9199471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09742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40944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15439884"/>
      </p:ext>
    </p:extLst>
  </p:cSld>
  <p:clrMapOvr>
    <a:masterClrMapping/>
  </p:clrMapOvr>
  <p:extLst>
    <p:ext uri="{DCECCB84-F9BA-43D5-87BE-67443E8EF086}">
      <p15:sldGuideLst xmlns=""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4915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87977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570333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05851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FDC7F1"/>
          </a:solidFill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УП. </a:t>
            </a:r>
            <a:r>
              <a:rPr lang="ru-RU" b="1" dirty="0" smtClean="0">
                <a:solidFill>
                  <a:schemeClr val="bg1"/>
                </a:solidFill>
              </a:rPr>
              <a:t>01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Тема: </a:t>
            </a:r>
            <a:r>
              <a:rPr lang="ru-RU" b="1" dirty="0" smtClean="0"/>
              <a:t>Магазин обуви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 и науки Нижегородской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66425014"/>
              </p:ext>
            </p:extLst>
          </p:nvPr>
        </p:nvGraphicFramePr>
        <p:xfrm>
          <a:off x="7383166" y="4673474"/>
          <a:ext cx="9152234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0517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4391717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Выполнила: </a:t>
                      </a:r>
                      <a:r>
                        <a:rPr lang="ru-RU" baseline="0" dirty="0" smtClean="0"/>
                        <a:t>Трифонова Инна Андреевна</a:t>
                      </a:r>
                      <a:endParaRPr lang="ru-RU" dirty="0" smtClean="0"/>
                    </a:p>
                    <a:p>
                      <a:pPr algn="l"/>
                      <a:r>
                        <a:rPr lang="ru-RU" baseline="0" dirty="0" smtClean="0"/>
                        <a:t>                       Студентка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="" xmlns:p14="http://schemas.microsoft.com/office/powerpoint/2010/main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DC7F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Обзор проекта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marL="0" indent="540000">
              <a:buNone/>
            </a:pP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ShoeStore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мобильное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Android‑приложение‑маркетплейс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ориентированное на продажу спортивной обуви.</a:t>
            </a:r>
          </a:p>
          <a:p>
            <a:pPr marL="0" indent="54000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Оно использует REST API для обмена данными с сервером, современный декларативный подход к созданию интерфейса и архитектуру с разделением на независимые слои.</a:t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разработке сделан упор на грамотную организацию кода, надёжное управление состоянием экранов и устойчивое взаимодействие с серверной частью.</a:t>
            </a:r>
          </a:p>
          <a:p>
            <a:pPr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 descr="Android_Logo_2014_-_2019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4076700"/>
            <a:ext cx="1828800" cy="1828800"/>
          </a:xfrm>
          <a:prstGeom prst="rect">
            <a:avLst/>
          </a:prstGeom>
        </p:spPr>
      </p:pic>
      <p:pic>
        <p:nvPicPr>
          <p:cNvPr id="9" name="Рисунок 8" descr="image-41-1536x8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1" y="3832860"/>
            <a:ext cx="4328160" cy="243459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50111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DC7F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Программные Модули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26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375" y="1600200"/>
            <a:ext cx="257175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71825" y="1604963"/>
            <a:ext cx="247650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29300" y="1681163"/>
            <a:ext cx="2495550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82025" y="1981200"/>
            <a:ext cx="3352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75832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DC7F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Программные модули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26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625" y="1538289"/>
            <a:ext cx="3212033" cy="3586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7699" y="1406646"/>
            <a:ext cx="2633663" cy="4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278687" y="1590675"/>
            <a:ext cx="2355976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75832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DC7F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Архитектурный подход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399"/>
            <a:ext cx="11515724" cy="5273675"/>
          </a:xfrm>
        </p:spPr>
        <p:txBody>
          <a:bodyPr>
            <a:normAutofit lnSpcReduction="10000"/>
          </a:bodyPr>
          <a:lstStyle/>
          <a:p>
            <a:pPr marL="0" indent="540000" algn="just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приложении реализован паттерн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MVVM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идеально подходящий для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Compose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соответствующий рекомендациям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Jetpack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.​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540000" algn="just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Преимущества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MVVM</a:t>
            </a:r>
          </a:p>
          <a:p>
            <a:pPr marL="361950" indent="714375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Разделяет UI от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бизнес-логики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обеспечивая независимую разработку и тестирование компонентов.</a:t>
            </a:r>
          </a:p>
          <a:p>
            <a:pPr marL="361950" indent="714375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Предоставляет централизованное управление состоянием, что облегчает работу с данными и реактивными обновлениями.</a:t>
            </a:r>
          </a:p>
          <a:p>
            <a:pPr marL="361950" indent="714375"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Упрощает сопровождение кода и масштабирование за счет четкой, модульной структуры.​</a:t>
            </a:r>
          </a:p>
          <a:p>
            <a:pPr marL="0" indent="540000" algn="just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Структура экранов</a:t>
            </a:r>
          </a:p>
          <a:p>
            <a:pPr marL="0" indent="54000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Каждый экран использует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dedicated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минимизируя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зависимости между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компонентами.​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54000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Такая изоляция повышает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переиспользуемость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логики и предотвращает нежелательные взаимодействия.​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6036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DC7F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Реализация </a:t>
            </a:r>
            <a:r>
              <a:rPr lang="en-US" sz="4000" b="1" dirty="0" smtClean="0">
                <a:solidFill>
                  <a:schemeClr val="bg1"/>
                </a:solidFill>
              </a:rPr>
              <a:t>MVVM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/>
          </a:bodyPr>
          <a:lstStyle/>
          <a:p>
            <a:pPr marL="0" indent="540000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Compose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экран выступает как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он отображает интерфейс и наблюдает за состояниями, которые предоставляет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автоматически обновляясь при их изменении.</a:t>
            </a:r>
          </a:p>
          <a:p>
            <a:pPr marL="0" indent="540000">
              <a:buNone/>
            </a:pP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реагирует на действия пользователя, формирует состояние интерфейса и взаимодействует с сетевым слоем.</a:t>
            </a:r>
          </a:p>
          <a:p>
            <a:pPr marL="0" indent="540000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сетевой слой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инкапсулирует логику работы с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API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возвращая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уже обработанные данные, не раскрывая деталей сетевых запросов.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4349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DC7F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Диаграмма вариантов использования</a:t>
            </a:r>
            <a:endParaRPr lang="ru-RU" sz="4000" b="1" dirty="0">
              <a:solidFill>
                <a:schemeClr val="bg1"/>
              </a:solidFill>
            </a:endParaRPr>
          </a:p>
        </p:txBody>
      </p:sp>
      <p:pic>
        <p:nvPicPr>
          <p:cNvPr id="8" name="Содержимое 7" descr="Диаграмма использования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0424" y="2269649"/>
            <a:ext cx="6009494" cy="3054826"/>
          </a:xfrm>
        </p:spPr>
      </p:pic>
    </p:spTree>
    <p:extLst>
      <p:ext uri="{BB962C8B-B14F-4D97-AF65-F5344CB8AC3E}">
        <p14:creationId xmlns="" xmlns:p14="http://schemas.microsoft.com/office/powerpoint/2010/main" val="210575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DC7F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Реализация</a:t>
            </a:r>
            <a:r>
              <a:rPr lang="ru-RU" sz="4000" dirty="0" smtClean="0"/>
              <a:t> </a:t>
            </a:r>
            <a:r>
              <a:rPr lang="ru-RU" sz="4000" b="1" dirty="0" smtClean="0">
                <a:solidFill>
                  <a:schemeClr val="bg1"/>
                </a:solidFill>
              </a:rPr>
              <a:t>пользовательского интерфейса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 lnSpcReduction="10000"/>
          </a:bodyPr>
          <a:lstStyle/>
          <a:p>
            <a:pPr marL="0" indent="540000"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архитектуре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MVVM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приложение разделено на три уровня:</a:t>
            </a:r>
          </a:p>
          <a:p>
            <a:pPr marL="0" indent="540000">
              <a:buNone/>
            </a:pP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(Compose-экраны) — отвечает только за отображение интерфейса и реакцию на изменения состояния. Здесь нет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бизнес-логики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Все данные приходят из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через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collectAsState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().</a:t>
            </a:r>
          </a:p>
          <a:p>
            <a:pPr marL="0" indent="540000">
              <a:buNone/>
            </a:pP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управляет состоянием экрана. Обрабатывает действия пользователя (клики, ввод), обновляет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StateFlow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(например,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loading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error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и обращается к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репозиторию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или API через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RetrofitInstance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540000">
              <a:buNone/>
            </a:pP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(API/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Repository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 — скрывает детали работы с сетью. Возвращает готовые данные, не заставляя 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напрямую работать 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Retrofit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540000">
              <a:buNone/>
            </a:pP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Поток данных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выглядит так:</a:t>
            </a:r>
            <a:br>
              <a:rPr lang="ru-RU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Пользователь →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View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→ API →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ViewModel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→ Обновление UI</a:t>
            </a:r>
          </a:p>
          <a:p>
            <a:pPr algn="just">
              <a:lnSpc>
                <a:spcPct val="80000"/>
              </a:lnSpc>
              <a:buNone/>
            </a:pPr>
            <a:endParaRPr lang="ru-RU" sz="2400" dirty="0"/>
          </a:p>
        </p:txBody>
      </p:sp>
      <p:sp>
        <p:nvSpPr>
          <p:cNvPr id="10242" name="AutoShape 2" descr="How to Build a Stunning Animated Progress Button | ProAndroidDe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44" name="AutoShape 4" descr="How to Build a Stunning Animated Progress Button | ProAndroidDe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46" name="AutoShape 6" descr="How to Build a Stunning Animated Progress Button | ProAndroidDe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48" name="AutoShape 8" descr="README ru - Co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50" name="AutoShape 10" descr="README ru - Co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52" name="AutoShape 12" descr="README ru - Coi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5289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68747470733a2f2f6d69726f2e6d656469756d2e636f6d2f76322f726573697a653a6669743a313430302f312a706e537a6d464a52434a7a745337746b534a585975512e6a706567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425" y="5243512"/>
            <a:ext cx="3629025" cy="87606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450850"/>
            <a:ext cx="12192000" cy="758825"/>
          </a:xfrm>
          <a:solidFill>
            <a:srgbClr val="FDC7F1"/>
          </a:solidFill>
        </p:spPr>
        <p:txBody>
          <a:bodyPr>
            <a:normAutofit/>
          </a:bodyPr>
          <a:lstStyle/>
          <a:p>
            <a:pPr algn="ctr"/>
            <a:r>
              <a:rPr lang="ru-RU" sz="4000" b="1" dirty="0" smtClean="0">
                <a:solidFill>
                  <a:schemeClr val="bg1"/>
                </a:solidFill>
              </a:rPr>
              <a:t>Сетевое взаимодействие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851" y="1422400"/>
            <a:ext cx="11515724" cy="4013200"/>
          </a:xfrm>
        </p:spPr>
        <p:txBody>
          <a:bodyPr>
            <a:normAutofit fontScale="92500" lnSpcReduction="20000"/>
          </a:bodyPr>
          <a:lstStyle/>
          <a:p>
            <a:pPr marL="0" indent="540000">
              <a:buNone/>
            </a:pP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Приложение использует сетевой стек </a:t>
            </a:r>
            <a:r>
              <a:rPr lang="ru-RU" sz="2600" b="1" dirty="0" err="1" smtClean="0">
                <a:latin typeface="Times New Roman" pitchFamily="18" charset="0"/>
                <a:cs typeface="Times New Roman" pitchFamily="18" charset="0"/>
              </a:rPr>
              <a:t>Retrofit</a:t>
            </a:r>
            <a:r>
              <a:rPr lang="ru-RU" sz="2600" b="1" dirty="0" smtClean="0"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600" b="1" dirty="0" err="1" smtClean="0">
                <a:latin typeface="Times New Roman" pitchFamily="18" charset="0"/>
                <a:cs typeface="Times New Roman" pitchFamily="18" charset="0"/>
              </a:rPr>
              <a:t>OkHttp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600" b="1" dirty="0" err="1" smtClean="0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600" b="1" dirty="0" err="1" smtClean="0">
                <a:latin typeface="Times New Roman" pitchFamily="18" charset="0"/>
                <a:cs typeface="Times New Roman" pitchFamily="18" charset="0"/>
              </a:rPr>
              <a:t>Gson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для эффективной работы с API.​</a:t>
            </a:r>
          </a:p>
          <a:p>
            <a:pPr marL="0" indent="540000">
              <a:buNone/>
            </a:pPr>
            <a:r>
              <a:rPr lang="ru-RU" sz="2600" b="1" dirty="0" smtClean="0">
                <a:latin typeface="Times New Roman" pitchFamily="18" charset="0"/>
                <a:cs typeface="Times New Roman" pitchFamily="18" charset="0"/>
              </a:rPr>
              <a:t>Роли компонентов</a:t>
            </a:r>
          </a:p>
          <a:p>
            <a:pPr marL="0" indent="540000">
              <a:buNone/>
            </a:pPr>
            <a:r>
              <a:rPr lang="ru-RU" sz="2600" b="1" dirty="0" err="1" smtClean="0">
                <a:latin typeface="Times New Roman" pitchFamily="18" charset="0"/>
                <a:cs typeface="Times New Roman" pitchFamily="18" charset="0"/>
              </a:rPr>
              <a:t>Retrofit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определяет REST-интерфейсы и автоматически преобразует серверные ответы в модели 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540000">
              <a:buNone/>
            </a:pPr>
            <a:r>
              <a:rPr lang="ru-RU" sz="2600" b="1" dirty="0" err="1" smtClean="0">
                <a:latin typeface="Times New Roman" pitchFamily="18" charset="0"/>
                <a:cs typeface="Times New Roman" pitchFamily="18" charset="0"/>
              </a:rPr>
              <a:t>OkHttp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отвечает за выполнение HTTP-запросов, управление соединениями и кэшированием.</a:t>
            </a:r>
          </a:p>
          <a:p>
            <a:pPr marL="0" indent="540000">
              <a:buNone/>
            </a:pPr>
            <a:r>
              <a:rPr lang="ru-RU" sz="2600" b="1" dirty="0" err="1" smtClean="0">
                <a:latin typeface="Times New Roman" pitchFamily="18" charset="0"/>
                <a:cs typeface="Times New Roman" pitchFamily="18" charset="0"/>
              </a:rPr>
              <a:t>Supabase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предоставляет REST API на 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бэкенде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для доступа к данным товаров, категорий и аутентификации.​</a:t>
            </a:r>
          </a:p>
          <a:p>
            <a:pPr marL="0" indent="540000">
              <a:buNone/>
            </a:pPr>
            <a:r>
              <a:rPr lang="ru-RU" sz="2600" b="1" dirty="0" err="1" smtClean="0">
                <a:latin typeface="Times New Roman" pitchFamily="18" charset="0"/>
                <a:cs typeface="Times New Roman" pitchFamily="18" charset="0"/>
              </a:rPr>
              <a:t>Сериализация</a:t>
            </a:r>
            <a:r>
              <a:rPr lang="ru-RU" sz="2600" b="1" dirty="0" smtClean="0">
                <a:latin typeface="Times New Roman" pitchFamily="18" charset="0"/>
                <a:cs typeface="Times New Roman" pitchFamily="18" charset="0"/>
              </a:rPr>
              <a:t> данных</a:t>
            </a:r>
          </a:p>
          <a:p>
            <a:pPr marL="0" indent="540000">
              <a:buNone/>
            </a:pPr>
            <a:r>
              <a:rPr lang="ru-RU" sz="2600" b="1" dirty="0" err="1" smtClean="0">
                <a:latin typeface="Times New Roman" pitchFamily="18" charset="0"/>
                <a:cs typeface="Times New Roman" pitchFamily="18" charset="0"/>
              </a:rPr>
              <a:t>Gson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 обеспечивает конвертацию между JSON-ответами сервера и объектами </a:t>
            </a:r>
            <a:r>
              <a:rPr lang="ru-RU" sz="2600" dirty="0" err="1" smtClean="0">
                <a:latin typeface="Times New Roman" pitchFamily="18" charset="0"/>
                <a:cs typeface="Times New Roman" pitchFamily="18" charset="0"/>
              </a:rPr>
              <a:t>Kotlin</a:t>
            </a:r>
            <a:r>
              <a:rPr lang="ru-RU" sz="2600" dirty="0" smtClean="0">
                <a:latin typeface="Times New Roman" pitchFamily="18" charset="0"/>
                <a:cs typeface="Times New Roman" pitchFamily="18" charset="0"/>
              </a:rPr>
              <a:t>, упрощая обработку данных.</a:t>
            </a:r>
          </a:p>
          <a:p>
            <a:pPr algn="just">
              <a:lnSpc>
                <a:spcPct val="80000"/>
              </a:lnSpc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="" xmlns:p14="http://schemas.microsoft.com/office/powerpoint/2010/main" val="3166350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" y="2064183"/>
            <a:ext cx="12192000" cy="1540482"/>
          </a:xfrm>
          <a:solidFill>
            <a:srgbClr val="FDC7F1"/>
          </a:solidFill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УП. 02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147454" y="3756280"/>
            <a:ext cx="7897091" cy="1175153"/>
          </a:xfrm>
        </p:spPr>
        <p:txBody>
          <a:bodyPr/>
          <a:lstStyle/>
          <a:p>
            <a:r>
              <a:rPr lang="ru-RU" b="1" dirty="0" smtClean="0">
                <a:solidFill>
                  <a:srgbClr val="002060"/>
                </a:solidFill>
              </a:rPr>
              <a:t>Тема: </a:t>
            </a:r>
            <a:r>
              <a:rPr lang="ru-RU" b="1" dirty="0" smtClean="0"/>
              <a:t>Магазин обуви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048000" y="202935"/>
            <a:ext cx="66692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образования и науки Нижегородской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бюджетное профессиональное </a:t>
            </a:r>
            <a:b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«Заволжский автомоторный техникум»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(ГБПОУ ЗАМТ)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66425014"/>
              </p:ext>
            </p:extLst>
          </p:nvPr>
        </p:nvGraphicFramePr>
        <p:xfrm>
          <a:off x="7383166" y="4673474"/>
          <a:ext cx="9152234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0517">
                  <a:extLst>
                    <a:ext uri="{9D8B030D-6E8A-4147-A177-3AD203B41FA5}">
                      <a16:colId xmlns="" xmlns:a16="http://schemas.microsoft.com/office/drawing/2014/main" val="856406293"/>
                    </a:ext>
                  </a:extLst>
                </a:gridCol>
                <a:gridCol w="4391717">
                  <a:extLst>
                    <a:ext uri="{9D8B030D-6E8A-4147-A177-3AD203B41FA5}">
                      <a16:colId xmlns="" xmlns:a16="http://schemas.microsoft.com/office/drawing/2014/main" val="3577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/>
                        <a:t>Выполнила: </a:t>
                      </a:r>
                      <a:r>
                        <a:rPr lang="ru-RU" baseline="0" dirty="0" smtClean="0"/>
                        <a:t>Трифонова Инна Андреевна</a:t>
                      </a:r>
                      <a:endParaRPr lang="ru-RU" dirty="0" smtClean="0"/>
                    </a:p>
                    <a:p>
                      <a:pPr algn="l"/>
                      <a:r>
                        <a:rPr lang="ru-RU" baseline="0" dirty="0" smtClean="0"/>
                        <a:t>                       Студентка группы ИС-22А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476427313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5313218" y="6026360"/>
            <a:ext cx="1565564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Заволжье</a:t>
            </a:r>
          </a:p>
          <a:p>
            <a:pPr marL="180340" marR="180340" algn="ctr">
              <a:spcBef>
                <a:spcPts val="600"/>
              </a:spcBef>
              <a:spcAft>
                <a:spcPts val="0"/>
              </a:spcAft>
            </a:pPr>
            <a:r>
              <a:rPr lang="ru-RU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="" xmlns:p14="http://schemas.microsoft.com/office/powerpoint/2010/main" val="429053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680</TotalTime>
  <Words>272</Words>
  <Application>Microsoft Office PowerPoint</Application>
  <PresentationFormat>Произвольный</PresentationFormat>
  <Paragraphs>55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УП. 01</vt:lpstr>
      <vt:lpstr>Обзор проекта</vt:lpstr>
      <vt:lpstr>Программные Модули</vt:lpstr>
      <vt:lpstr>Программные модули</vt:lpstr>
      <vt:lpstr>Архитектурный подход</vt:lpstr>
      <vt:lpstr>Реализация MVVM</vt:lpstr>
      <vt:lpstr>Диаграмма вариантов использования</vt:lpstr>
      <vt:lpstr>Реализация пользовательского интерфейса</vt:lpstr>
      <vt:lpstr>Сетевое взаимодействие</vt:lpstr>
      <vt:lpstr>УП. 02</vt:lpstr>
    </vt:vector>
  </TitlesOfParts>
  <Company>SPecialiST RePack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android243</cp:lastModifiedBy>
  <cp:revision>60</cp:revision>
  <dcterms:created xsi:type="dcterms:W3CDTF">2022-06-15T10:15:27Z</dcterms:created>
  <dcterms:modified xsi:type="dcterms:W3CDTF">2025-12-20T08:03:01Z</dcterms:modified>
</cp:coreProperties>
</file>